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SVN-Aeonik"/>
      <p:regular r:id="rId19"/>
    </p:embeddedFont>
    <p:embeddedFont>
      <p:font typeface="Inter"/>
      <p:regular r:id="rId20"/>
    </p:embeddedFont>
    <p:embeddedFont>
      <p:font typeface="SVN-Walsheim Pro"/>
      <p:regular r:id="rId21"/>
    </p:embeddedFont>
    <p:embeddedFont>
      <p:font typeface="SVN-Anguita Sans"/>
      <p:regular r:id="rId22"/>
    </p:embeddedFont>
    <p:embeddedFont>
      <p:font typeface="SVN-Freight Display"/>
      <p:regular r:id="rId23"/>
    </p:embeddedFont>
    <p:embeddedFont>
      <p:font typeface="SVN-Acta"/>
      <p:regular r:id="rId24"/>
    </p:embeddedFont>
    <p:embeddedFont>
      <p:font typeface="SVN-Monument Extended"/>
      <p:regular r:id="rId25"/>
    </p:embeddedFont>
    <p:embeddedFont>
      <p:font typeface="SVN-Integral CF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rId19.fntdata"/><Relationship Id="rId20" Type="http://schemas.openxmlformats.org/officeDocument/2006/relationships/font" Target="fonts/rId20.fntdata"/><Relationship Id="rId21" Type="http://schemas.openxmlformats.org/officeDocument/2006/relationships/font" Target="fonts/rId21.fntdata"/><Relationship Id="rId22" Type="http://schemas.openxmlformats.org/officeDocument/2006/relationships/font" Target="fonts/rId22.fntdata"/><Relationship Id="rId23" Type="http://schemas.openxmlformats.org/officeDocument/2006/relationships/font" Target="fonts/rId23.fntdata"/><Relationship Id="rId24" Type="http://schemas.openxmlformats.org/officeDocument/2006/relationships/font" Target="fonts/rId24.fntdata"/><Relationship Id="rId25" Type="http://schemas.openxmlformats.org/officeDocument/2006/relationships/font" Target="fonts/rId25.fntdata"/><Relationship Id="rId26" Type="http://schemas.openxmlformats.org/officeDocument/2006/relationships/font" Target="fonts/rId2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395288" y="290513"/>
            <a:ext cx="2486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CFCFC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3810000" y="3357563"/>
            <a:ext cx="1233488" cy="304800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0" y="3357563"/>
            <a:ext cx="304800" cy="30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71950" y="3409950"/>
            <a:ext cx="871538" cy="20002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4171950" y="3409950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CFCFC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8" name="Text 5"/>
          <p:cNvSpPr/>
          <p:nvPr/>
        </p:nvSpPr>
        <p:spPr>
          <a:xfrm>
            <a:off x="4171950" y="3514725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E5E9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38500" y="-71437"/>
            <a:ext cx="476250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14538" y="1347788"/>
            <a:ext cx="5114925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445"/>
              </a:lnSpc>
              <a:buNone/>
            </a:pPr>
            <a:r>
              <a:rPr lang="en-US" sz="8213" b="1" dirty="0">
                <a:solidFill>
                  <a:srgbClr val="CFCFC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SLIDE TEMPLATE</a:t>
            </a:r>
            <a:endParaRPr lang="en-US" sz="8213" dirty="0"/>
          </a:p>
        </p:txBody>
      </p:sp>
      <p:sp>
        <p:nvSpPr>
          <p:cNvPr id="12" name="Text 7"/>
          <p:cNvSpPr/>
          <p:nvPr/>
        </p:nvSpPr>
        <p:spPr>
          <a:xfrm>
            <a:off x="2862263" y="2608548"/>
            <a:ext cx="342423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320"/>
              </a:lnSpc>
              <a:buNone/>
            </a:pPr>
            <a:r>
              <a:rPr lang="en-US" sz="2887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Kĩ thuật sử dụng prompt</a:t>
            </a:r>
            <a:endParaRPr lang="en-US" sz="288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95288" y="4614863"/>
            <a:ext cx="8315325" cy="47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7488" y="461963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404813" y="428625"/>
            <a:ext cx="2619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0A02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7062788" y="4610100"/>
            <a:ext cx="1866305" cy="336649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62788" y="4611737"/>
            <a:ext cx="333375" cy="3333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0817" y="4610100"/>
            <a:ext cx="1438275" cy="336649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7490817" y="46101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944" dirty="0">
                <a:solidFill>
                  <a:srgbClr val="000000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944" dirty="0"/>
          </a:p>
        </p:txBody>
      </p:sp>
      <p:sp>
        <p:nvSpPr>
          <p:cNvPr id="8" name="Text 5"/>
          <p:cNvSpPr/>
          <p:nvPr/>
        </p:nvSpPr>
        <p:spPr>
          <a:xfrm>
            <a:off x="7490817" y="4784824"/>
            <a:ext cx="671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26" dirty="0">
                <a:solidFill>
                  <a:srgbClr val="0A0200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826" dirty="0"/>
          </a:p>
        </p:txBody>
      </p:sp>
      <p:sp>
        <p:nvSpPr>
          <p:cNvPr id="9" name="Text 6"/>
          <p:cNvSpPr/>
          <p:nvPr/>
        </p:nvSpPr>
        <p:spPr>
          <a:xfrm>
            <a:off x="3467100" y="1543050"/>
            <a:ext cx="5536881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709"/>
              </a:lnSpc>
              <a:buNone/>
            </a:pPr>
            <a:r>
              <a:rPr lang="en-US" sz="4095" i="1" dirty="0">
                <a:solidFill>
                  <a:srgbClr val="282928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Tại sao AI thường xuyên đưa ra câu trả lời hời hợt?</a:t>
            </a:r>
            <a:endParaRPr lang="en-US" sz="4095" dirty="0"/>
          </a:p>
        </p:txBody>
      </p:sp>
      <p:sp>
        <p:nvSpPr>
          <p:cNvPr id="10" name="Shape 7"/>
          <p:cNvSpPr/>
          <p:nvPr/>
        </p:nvSpPr>
        <p:spPr>
          <a:xfrm rot="-5400000">
            <a:off x="-885825" y="2919413"/>
            <a:ext cx="3090863" cy="795338"/>
          </a:xfrm>
          <a:prstGeom prst="rect">
            <a:avLst/>
          </a:prstGeom>
          <a:noFill/>
          <a:ln/>
        </p:spPr>
      </p:sp>
      <p:sp>
        <p:nvSpPr>
          <p:cNvPr id="11" name="Shape 8"/>
          <p:cNvSpPr/>
          <p:nvPr/>
        </p:nvSpPr>
        <p:spPr>
          <a:xfrm rot="-5400000">
            <a:off x="290513" y="4095750"/>
            <a:ext cx="738188" cy="795338"/>
          </a:xfrm>
          <a:prstGeom prst="rect">
            <a:avLst/>
          </a:prstGeom>
          <a:noFill/>
          <a:ln w="4524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 rot="-5400000">
            <a:off x="338138" y="4143375"/>
            <a:ext cx="642938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44"/>
              </a:lnSpc>
              <a:buNone/>
            </a:pPr>
            <a:r>
              <a:rPr lang="en-US" sz="4560" b="1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01</a:t>
            </a:r>
            <a:endParaRPr lang="en-US" sz="4560" dirty="0"/>
          </a:p>
        </p:txBody>
      </p:sp>
      <p:sp>
        <p:nvSpPr>
          <p:cNvPr id="13" name="Text 10"/>
          <p:cNvSpPr/>
          <p:nvPr/>
        </p:nvSpPr>
        <p:spPr>
          <a:xfrm rot="-5400000">
            <a:off x="-435769" y="2769394"/>
            <a:ext cx="21907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73" dirty="0">
                <a:solidFill>
                  <a:srgbClr val="0A0200">
                    <a:alpha val="99000"/>
                  </a:srgbClr>
                </a:solidFill>
                <a:latin typeface="SVN-Acta" pitchFamily="34" charset="0"/>
                <a:ea typeface="SVN-Acta" pitchFamily="34" charset="-122"/>
                <a:cs typeface="SVN-Acta" pitchFamily="34" charset="-120"/>
              </a:rPr>
              <a:t>CÁC CÂU HỎI THƯỜNG GẶP</a:t>
            </a:r>
            <a:endParaRPr lang="en-US" sz="1273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-18099"/>
          <a:stretch/>
        </p:blipFill>
        <p:spPr>
          <a:xfrm>
            <a:off x="1462088" y="834566"/>
            <a:ext cx="7669974" cy="3108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65449"/>
          <a:stretch/>
        </p:blipFill>
        <p:spPr>
          <a:xfrm>
            <a:off x="1463597" y="4395787"/>
            <a:ext cx="7668499" cy="63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8472488" y="4724400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4010025" y="4724400"/>
            <a:ext cx="1128713" cy="200025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0025" y="4724400"/>
            <a:ext cx="200025" cy="200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0" y="4724400"/>
            <a:ext cx="871538" cy="20002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4267200" y="4724400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3F3F3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8" name="Text 5"/>
          <p:cNvSpPr/>
          <p:nvPr/>
        </p:nvSpPr>
        <p:spPr>
          <a:xfrm>
            <a:off x="4267200" y="4829175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777777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76140"/>
          <a:stretch/>
        </p:blipFill>
        <p:spPr>
          <a:xfrm>
            <a:off x="0" y="4538662"/>
            <a:ext cx="9117806" cy="476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76140"/>
          <a:stretch/>
        </p:blipFill>
        <p:spPr>
          <a:xfrm>
            <a:off x="4763" y="4514850"/>
            <a:ext cx="9117806" cy="476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763" y="0"/>
            <a:ext cx="9186863" cy="2121694"/>
          </a:xfrm>
          <a:prstGeom prst="rect">
            <a:avLst/>
          </a:prstGeom>
          <a:noFill/>
          <a:ln/>
        </p:spPr>
      </p:sp>
      <p:sp>
        <p:nvSpPr>
          <p:cNvPr id="14" name="Shape 7"/>
          <p:cNvSpPr/>
          <p:nvPr/>
        </p:nvSpPr>
        <p:spPr>
          <a:xfrm>
            <a:off x="4763" y="1545"/>
            <a:ext cx="5915025" cy="102393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5" name="Text 8"/>
          <p:cNvSpPr/>
          <p:nvPr/>
        </p:nvSpPr>
        <p:spPr>
          <a:xfrm>
            <a:off x="4763" y="-442911"/>
            <a:ext cx="2662238" cy="195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0"/>
              </a:lnSpc>
              <a:buNone/>
            </a:pPr>
            <a:r>
              <a:rPr lang="en-US" sz="12208" dirty="0">
                <a:solidFill>
                  <a:srgbClr val="FFFFFF">
                    <a:alpha val="99000"/>
                  </a:srgbClr>
                </a:solidFill>
                <a:latin typeface="SVN-Monument Extended" pitchFamily="34" charset="0"/>
                <a:ea typeface="SVN-Monument Extended" pitchFamily="34" charset="-122"/>
                <a:cs typeface="SVN-Monument Extended" pitchFamily="34" charset="-120"/>
              </a:rPr>
              <a:t>07</a:t>
            </a:r>
            <a:endParaRPr lang="en-US" sz="12208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276600" y="2381"/>
            <a:ext cx="5867400" cy="1023938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14500" y="1545"/>
            <a:ext cx="2496559" cy="20510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76600" y="0"/>
            <a:ext cx="4763" cy="2052637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rcRect l="0" r="518" t="0" b="0"/>
          <a:stretch/>
        </p:blipFill>
        <p:spPr>
          <a:xfrm>
            <a:off x="4763" y="1026319"/>
            <a:ext cx="9139238" cy="1023938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rcRect l="0" r="467" t="0" b="-467"/>
          <a:stretch/>
        </p:blipFill>
        <p:spPr>
          <a:xfrm>
            <a:off x="7132" y="1028700"/>
            <a:ext cx="9139238" cy="102393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42875" y="1497806"/>
            <a:ext cx="754856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2138" dirty="0">
                <a:solidFill>
                  <a:srgbClr val="000000">
                    <a:alpha val="99000"/>
                  </a:srgbClr>
                </a:solidFill>
                <a:latin typeface="SVN-Integral CF" pitchFamily="34" charset="0"/>
                <a:ea typeface="SVN-Integral CF" pitchFamily="34" charset="-122"/>
                <a:cs typeface="SVN-Integral CF" pitchFamily="34" charset="-120"/>
              </a:rPr>
              <a:t>GẠCH CHÂN TỪ KHÓA HÌNH ẢNH TRONG KỊCH BẢN.</a:t>
            </a:r>
            <a:endParaRPr lang="en-US" sz="2138" dirty="0"/>
          </a:p>
        </p:txBody>
      </p:sp>
      <p:sp>
        <p:nvSpPr>
          <p:cNvPr id="22" name="Text 10"/>
          <p:cNvSpPr/>
          <p:nvPr/>
        </p:nvSpPr>
        <p:spPr>
          <a:xfrm>
            <a:off x="176213" y="1266825"/>
            <a:ext cx="280987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140" dirty="0">
                <a:solidFill>
                  <a:srgbClr val="000626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Làm sao để thực hành ngôn ngữ cơ thể  ? </a:t>
            </a:r>
            <a:endParaRPr lang="en-US" sz="1140" dirty="0"/>
          </a:p>
        </p:txBody>
      </p:sp>
      <p:sp>
        <p:nvSpPr>
          <p:cNvPr id="23" name="Text 11"/>
          <p:cNvSpPr/>
          <p:nvPr/>
        </p:nvSpPr>
        <p:spPr>
          <a:xfrm>
            <a:off x="123825" y="2286000"/>
            <a:ext cx="38242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12312</a:t>
            </a:r>
            <a:endParaRPr lang="en-US" sz="99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385763" y="276225"/>
            <a:ext cx="2486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4010025" y="4724400"/>
            <a:ext cx="1128713" cy="200025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0025" y="4724400"/>
            <a:ext cx="200025" cy="200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0" y="4724400"/>
            <a:ext cx="871538" cy="20002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4267200" y="4724400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3F3F3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8" name="Text 5"/>
          <p:cNvSpPr/>
          <p:nvPr/>
        </p:nvSpPr>
        <p:spPr>
          <a:xfrm>
            <a:off x="4267200" y="4829175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777777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76140"/>
          <a:stretch/>
        </p:blipFill>
        <p:spPr>
          <a:xfrm>
            <a:off x="0" y="4538662"/>
            <a:ext cx="9117806" cy="476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76140"/>
          <a:stretch/>
        </p:blipFill>
        <p:spPr>
          <a:xfrm>
            <a:off x="4763" y="4514850"/>
            <a:ext cx="9117806" cy="47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5763" y="552450"/>
            <a:ext cx="3219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spc="53" kern="0" dirty="0">
                <a:solidFill>
                  <a:srgbClr val="1E1E1E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ÉP AI TƯ DUY SÂU TRƯỚC KHI NÓI</a:t>
            </a:r>
            <a:endParaRPr lang="en-US" sz="713" dirty="0"/>
          </a:p>
        </p:txBody>
      </p:sp>
      <p:sp>
        <p:nvSpPr>
          <p:cNvPr id="14" name="Text 7"/>
          <p:cNvSpPr/>
          <p:nvPr/>
        </p:nvSpPr>
        <p:spPr>
          <a:xfrm>
            <a:off x="357188" y="700088"/>
            <a:ext cx="7624762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2138" dirty="0">
                <a:solidFill>
                  <a:srgbClr val="1E1E1E">
                    <a:alpha val="99000"/>
                  </a:srgbClr>
                </a:solidFill>
                <a:latin typeface="SVN-Integral CF" pitchFamily="34" charset="0"/>
                <a:ea typeface="SVN-Integral CF" pitchFamily="34" charset="-122"/>
                <a:cs typeface="SVN-Integral CF" pitchFamily="34" charset="-120"/>
              </a:rPr>
              <a:t>CHỮA BÀI</a:t>
            </a:r>
            <a:endParaRPr lang="en-US" sz="2138" dirty="0"/>
          </a:p>
        </p:txBody>
      </p:sp>
      <p:sp>
        <p:nvSpPr>
          <p:cNvPr id="15" name="Text 8"/>
          <p:cNvSpPr/>
          <p:nvPr/>
        </p:nvSpPr>
        <p:spPr>
          <a:xfrm>
            <a:off x="4867275" y="1157288"/>
            <a:ext cx="3457575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998" b="1" dirty="0">
                <a:solidFill>
                  <a:srgbClr val="1E1E1E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TẠI SAO BẮT BUỘC PHẢI DÙNG CẶP DẤU &lt; &gt;</a:t>
            </a:r>
            <a:endParaRPr lang="en-US" sz="998" dirty="0"/>
          </a:p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998" dirty="0">
                <a:solidFill>
                  <a:srgbClr val="1E1E1E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viết bình thường • AI không phân biệt được đâu là Dữ liệu thật và đâu là Mệnh lệnh bắt buộc.</a:t>
            </a:r>
            <a:endParaRPr lang="en-US" sz="998" dirty="0"/>
          </a:p>
          <a:p>
            <a:pPr algn="l" indent="0" marL="0">
              <a:lnSpc>
                <a:spcPts val="1247"/>
              </a:lnSpc>
              <a:buNone/>
            </a:pPr>
            <a:r>
              <a:rPr lang="en-US" sz="998" b="1" dirty="0">
                <a:solidFill>
                  <a:srgbClr val="1E1E1E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DÙNG THẺ &lt; &gt; TÁC ĐỘNG VÀO NÃO AI chia ngăn chuyên dụng</a:t>
            </a:r>
            <a:endParaRPr lang="en-US" sz="998" dirty="0"/>
          </a:p>
          <a:p>
            <a:pPr algn="l" indent="0" marL="0">
              <a:lnSpc>
                <a:spcPts val="1247"/>
              </a:lnSpc>
              <a:buNone/>
            </a:pPr>
            <a:r>
              <a:rPr lang="en-US" sz="998" dirty="0">
                <a:solidFill>
                  <a:srgbClr val="1E1E1E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• Ngăn &lt;bai_toan&gt;: Chỉ đọc để lấy thông tin. • Ngăn &lt;yeu_cau&gt;: Coi là luật bất di bất dịch phải tuân theo</a:t>
            </a:r>
            <a:endParaRPr lang="en-US" sz="998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71937" y="1533525"/>
            <a:ext cx="138113" cy="13335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280988" y="1157288"/>
            <a:ext cx="3433763" cy="3500438"/>
          </a:xfrm>
          <a:prstGeom prst="roundRect">
            <a:avLst>
              <a:gd name="adj" fmla="val 6391"/>
            </a:avLst>
          </a:prstGeom>
          <a:solidFill>
            <a:srgbClr val="2829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&lt;bai_toan&gt;
Tôi có 500 triệu (300 triệu tự có, 200 triệu vay), muốn mở quán cafe nhượng quyền gần cổng trường Đại học.
&lt;/bai_toan&gt;
&lt;yeu_cau&gt;
Thực hiện trong thẻ &lt;phan_tich&gt; 4 bước sau:
- Bóc tách: Con số ẩn và chi phí ngầm
- Giả thiết: Tôi đang ảo tưởng gì về tương lai?
- Điểm mù: Kịch bản xấu nhất khiến dự án sập
- Sự thật: Bản chất cốt lõi
Sau đó chốt có làm không, giải thích và đề xuất giải pháp ở thẻ &lt;ket_luan&gt;.
&lt;/yeu_cau&gt;
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385763" y="276225"/>
            <a:ext cx="2486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4010025" y="4724400"/>
            <a:ext cx="1128713" cy="200025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0025" y="4724400"/>
            <a:ext cx="200025" cy="200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0" y="4724400"/>
            <a:ext cx="871538" cy="20002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4267200" y="4724400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3F3F3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8" name="Text 5"/>
          <p:cNvSpPr/>
          <p:nvPr/>
        </p:nvSpPr>
        <p:spPr>
          <a:xfrm>
            <a:off x="4267200" y="4829175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777777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76140"/>
          <a:stretch/>
        </p:blipFill>
        <p:spPr>
          <a:xfrm>
            <a:off x="0" y="4538662"/>
            <a:ext cx="9117806" cy="476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76140"/>
          <a:stretch/>
        </p:blipFill>
        <p:spPr>
          <a:xfrm>
            <a:off x="4763" y="4514850"/>
            <a:ext cx="9117806" cy="47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5763" y="552450"/>
            <a:ext cx="3219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spc="53" kern="0" dirty="0">
                <a:solidFill>
                  <a:srgbClr val="1E1E1E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XML LÀ GÌ RANH GIỚI LỆNH VS DỮ LIỆU</a:t>
            </a:r>
            <a:endParaRPr lang="en-US" sz="713" dirty="0"/>
          </a:p>
        </p:txBody>
      </p:sp>
      <p:sp>
        <p:nvSpPr>
          <p:cNvPr id="14" name="Text 7"/>
          <p:cNvSpPr/>
          <p:nvPr/>
        </p:nvSpPr>
        <p:spPr>
          <a:xfrm>
            <a:off x="357188" y="700088"/>
            <a:ext cx="7677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2138" dirty="0">
                <a:solidFill>
                  <a:srgbClr val="1E1E1E">
                    <a:alpha val="99000"/>
                  </a:srgbClr>
                </a:solidFill>
                <a:latin typeface="SVN-Integral CF" pitchFamily="34" charset="0"/>
                <a:ea typeface="SVN-Integral CF" pitchFamily="34" charset="-122"/>
                <a:cs typeface="SVN-Integral CF" pitchFamily="34" charset="-120"/>
              </a:rPr>
              <a:t>TẠI SAO BẮT BUỘC PHẢI ÉP AI TƯ DUY TRONG THẺ &lt;PHANTICH&gt;?</a:t>
            </a:r>
            <a:endParaRPr lang="en-US" sz="2138" dirty="0"/>
          </a:p>
        </p:txBody>
      </p:sp>
      <p:sp>
        <p:nvSpPr>
          <p:cNvPr id="15" name="Shape 8"/>
          <p:cNvSpPr/>
          <p:nvPr/>
        </p:nvSpPr>
        <p:spPr>
          <a:xfrm>
            <a:off x="357188" y="1466850"/>
            <a:ext cx="8801100" cy="2852738"/>
          </a:xfrm>
          <a:prstGeom prst="rect">
            <a:avLst/>
          </a:prstGeom>
          <a:noFill/>
          <a:ln/>
        </p:spPr>
      </p:sp>
      <p:sp>
        <p:nvSpPr>
          <p:cNvPr id="16" name="Shape 9"/>
          <p:cNvSpPr/>
          <p:nvPr/>
        </p:nvSpPr>
        <p:spPr>
          <a:xfrm>
            <a:off x="357188" y="1466850"/>
            <a:ext cx="2781300" cy="2852738"/>
          </a:xfrm>
          <a:prstGeom prst="roundRect">
            <a:avLst>
              <a:gd name="adj" fmla="val 5260"/>
            </a:avLst>
          </a:prstGeom>
          <a:solidFill>
            <a:srgbClr val="EEF2FF"/>
          </a:solidFill>
          <a:ln/>
        </p:spPr>
      </p:sp>
      <p:sp>
        <p:nvSpPr>
          <p:cNvPr id="17" name="Text 10"/>
          <p:cNvSpPr/>
          <p:nvPr/>
        </p:nvSpPr>
        <p:spPr>
          <a:xfrm>
            <a:off x="471488" y="1638300"/>
            <a:ext cx="2552700" cy="233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83" b="1" spc="-28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HỎI THẲNG - KHÔNG THẺ NHÁP → Thảo Mai</a:t>
            </a:r>
            <a:endParaRPr lang="en-US" sz="1283" dirty="0"/>
          </a:p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140" spc="-25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 AI đoán từ tiếp theo theo xu hướng làm hài lòng bạn.</a:t>
            </a:r>
            <a:endParaRPr lang="en-US" sz="1283" dirty="0"/>
          </a:p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140" spc="-25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Hỏi: "Có nên mở không?" → AI buột miệng nói ngay: "Ý tưởng rất tuyệt vời.</a:t>
            </a:r>
            <a:endParaRPr lang="en-US" sz="1283" dirty="0"/>
          </a:p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140" spc="-25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Khi lỡ nói "Tuyệt vời" ở câu đầu, các câu sau AI buộc phải tìm lý do để khen tiếp cho hợp lý (bẫy tự lừa dối).</a:t>
            </a:r>
            <a:endParaRPr lang="en-US" sz="1283" dirty="0"/>
          </a:p>
        </p:txBody>
      </p:sp>
      <p:sp>
        <p:nvSpPr>
          <p:cNvPr id="18" name="Shape 11"/>
          <p:cNvSpPr/>
          <p:nvPr/>
        </p:nvSpPr>
        <p:spPr>
          <a:xfrm>
            <a:off x="3367088" y="1466850"/>
            <a:ext cx="2781300" cy="2852738"/>
          </a:xfrm>
          <a:prstGeom prst="roundRect">
            <a:avLst>
              <a:gd name="adj" fmla="val 5260"/>
            </a:avLst>
          </a:prstGeom>
          <a:solidFill>
            <a:srgbClr val="EEF2FF"/>
          </a:solidFill>
          <a:ln/>
        </p:spPr>
      </p:sp>
      <p:sp>
        <p:nvSpPr>
          <p:cNvPr id="19" name="Text 12"/>
          <p:cNvSpPr/>
          <p:nvPr/>
        </p:nvSpPr>
        <p:spPr>
          <a:xfrm>
            <a:off x="3481388" y="1638300"/>
            <a:ext cx="2552700" cy="213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283" b="1" spc="-28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ÉP VÀO THẺ &lt;phantich&gt; (Cơ Chế Bắt Viết Giấy Nháp)</a:t>
            </a:r>
            <a:endParaRPr lang="en-US" sz="1283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140" spc="-25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• Cấm AI trả lời ngay.</a:t>
            </a:r>
            <a:endParaRPr lang="en-US" sz="1283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140" b="1" spc="-25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Ép AI tự tay gõ ra 4 dòng nháp:</a:t>
            </a:r>
            <a:pPr algn="l" indent="0" marL="0">
              <a:lnSpc>
                <a:spcPts val="1710"/>
              </a:lnSpc>
              <a:buNone/>
            </a:pPr>
            <a:r>
              <a:rPr lang="en-US" sz="1140" spc="-25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 1. Tiền mặt bằng, lãi vay 200tr. 2. Ảo tưởng đông khách. 3. 3 tháng hè vắng khách = Vỡ nợ. 4. Doanh thu rỗng.</a:t>
            </a:r>
            <a:endParaRPr lang="en-US" sz="1283" dirty="0"/>
          </a:p>
        </p:txBody>
      </p:sp>
      <p:sp>
        <p:nvSpPr>
          <p:cNvPr id="20" name="Shape 13"/>
          <p:cNvSpPr/>
          <p:nvPr/>
        </p:nvSpPr>
        <p:spPr>
          <a:xfrm>
            <a:off x="6376988" y="1466850"/>
            <a:ext cx="2781300" cy="2852738"/>
          </a:xfrm>
          <a:prstGeom prst="roundRect">
            <a:avLst>
              <a:gd name="adj" fmla="val 5260"/>
            </a:avLst>
          </a:prstGeom>
          <a:solidFill>
            <a:srgbClr val="EEF2FF"/>
          </a:solidFill>
          <a:ln/>
        </p:spPr>
      </p:sp>
      <p:sp>
        <p:nvSpPr>
          <p:cNvPr id="21" name="Text 14"/>
          <p:cNvSpPr/>
          <p:nvPr/>
        </p:nvSpPr>
        <p:spPr>
          <a:xfrm>
            <a:off x="6491288" y="1638300"/>
            <a:ext cx="2552700" cy="2824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283" b="1" spc="-31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KẾT LUẬN TẠI &lt;ket_luan&gt; (Đầu Ra Không Thể Bẻ Cong)</a:t>
            </a:r>
            <a:endParaRPr lang="en-US" sz="1283" dirty="0"/>
          </a:p>
          <a:p>
            <a:pPr algn="l" marL="342900" indent="-342900">
              <a:lnSpc>
                <a:spcPts val="2138"/>
              </a:lnSpc>
              <a:buSzPct val="100000"/>
              <a:buChar char="•"/>
            </a:pPr>
            <a:r>
              <a:rPr lang="en-US" sz="1140" spc="-31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AI bị uốn nắn theo sự thật: • Vì não ngắn hạn của AI vừa tự tay viết ra đống rủi ro chết người ở thẻ &lt;phantich&gt;...</a:t>
            </a:r>
            <a:endParaRPr lang="en-US" sz="1283" dirty="0"/>
          </a:p>
          <a:p>
            <a:pPr algn="l" marL="342900" indent="-342900">
              <a:lnSpc>
                <a:spcPts val="2138"/>
              </a:lnSpc>
              <a:buSzPct val="100000"/>
              <a:buChar char="•"/>
            </a:pPr>
            <a:r>
              <a:rPr lang="en-US" sz="1140" spc="-31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Đến khi bước sang thẻ &lt;ket_luan&gt;, nó </a:t>
            </a:r>
            <a:pPr algn="l" indent="0" marL="0">
              <a:lnSpc>
                <a:spcPts val="2138"/>
              </a:lnSpc>
              <a:buNone/>
            </a:pPr>
            <a:r>
              <a:rPr lang="en-US" sz="1140" b="1" spc="-31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KHÔNG THỂ KHEN ĐƯỢC NỮA.</a:t>
            </a:r>
            <a:pPr algn="l" indent="0" marL="0">
              <a:lnSpc>
                <a:spcPts val="2138"/>
              </a:lnSpc>
              <a:buNone/>
            </a:pPr>
            <a:r>
              <a:rPr lang="en-US" sz="1140" spc="-31" kern="0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 • Bắt buộc phải kết luận: "KHÔNG ĐẦU TƯ".</a:t>
            </a:r>
            <a:endParaRPr lang="en-US" sz="12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8472488" y="4724400"/>
            <a:ext cx="2286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0A02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4010025" y="4724400"/>
            <a:ext cx="1128713" cy="200025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10025" y="4724400"/>
            <a:ext cx="200025" cy="2000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7200" y="4724400"/>
            <a:ext cx="871538" cy="200025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4267200" y="4724400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3F3F3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8" name="Text 5"/>
          <p:cNvSpPr/>
          <p:nvPr/>
        </p:nvSpPr>
        <p:spPr>
          <a:xfrm>
            <a:off x="4267200" y="4829175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777777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76140"/>
          <a:stretch/>
        </p:blipFill>
        <p:spPr>
          <a:xfrm>
            <a:off x="0" y="4538662"/>
            <a:ext cx="9117806" cy="476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76140"/>
          <a:stretch/>
        </p:blipFill>
        <p:spPr>
          <a:xfrm>
            <a:off x="4763" y="4514850"/>
            <a:ext cx="9117806" cy="4763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763" y="0"/>
            <a:ext cx="9186863" cy="2121694"/>
          </a:xfrm>
          <a:prstGeom prst="rect">
            <a:avLst/>
          </a:prstGeom>
          <a:noFill/>
          <a:ln/>
        </p:spPr>
      </p:sp>
      <p:sp>
        <p:nvSpPr>
          <p:cNvPr id="14" name="Shape 7"/>
          <p:cNvSpPr/>
          <p:nvPr/>
        </p:nvSpPr>
        <p:spPr>
          <a:xfrm>
            <a:off x="4763" y="1545"/>
            <a:ext cx="5915025" cy="1023938"/>
          </a:xfrm>
          <a:prstGeom prst="rect">
            <a:avLst/>
          </a:prstGeom>
          <a:noFill/>
          <a:ln/>
        </p:spPr>
      </p:sp>
      <p:sp>
        <p:nvSpPr>
          <p:cNvPr id="15" name="Text 8"/>
          <p:cNvSpPr/>
          <p:nvPr/>
        </p:nvSpPr>
        <p:spPr>
          <a:xfrm>
            <a:off x="142875" y="-469942"/>
            <a:ext cx="2657475" cy="180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9"/>
              </a:lnSpc>
              <a:buNone/>
            </a:pPr>
            <a:r>
              <a:rPr lang="en-US" sz="11257" dirty="0">
                <a:solidFill>
                  <a:srgbClr val="464646">
                    <a:alpha val="99000"/>
                  </a:srgbClr>
                </a:solidFill>
                <a:latin typeface="SVN-Monument Extended" pitchFamily="34" charset="0"/>
                <a:ea typeface="SVN-Monument Extended" pitchFamily="34" charset="-122"/>
                <a:cs typeface="SVN-Monument Extended" pitchFamily="34" charset="-120"/>
              </a:rPr>
              <a:t>06</a:t>
            </a:r>
            <a:endParaRPr lang="en-US" sz="11257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805" t="0" b="0"/>
          <a:stretch/>
        </p:blipFill>
        <p:spPr>
          <a:xfrm>
            <a:off x="3276600" y="2381"/>
            <a:ext cx="5867400" cy="1676400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714500" y="1545"/>
            <a:ext cx="2496559" cy="20510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76600" y="0"/>
            <a:ext cx="4763" cy="2052637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rcRect l="0" r="518" t="0" b="0"/>
          <a:stretch/>
        </p:blipFill>
        <p:spPr>
          <a:xfrm>
            <a:off x="4763" y="1026319"/>
            <a:ext cx="9139238" cy="1023938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rcRect l="0" r="467" t="0" b="-467"/>
          <a:stretch/>
        </p:blipFill>
        <p:spPr>
          <a:xfrm>
            <a:off x="7134" y="1028700"/>
            <a:ext cx="9139238" cy="102393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42875" y="1497806"/>
            <a:ext cx="55483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2138" dirty="0">
                <a:solidFill>
                  <a:srgbClr val="000000">
                    <a:alpha val="99000"/>
                  </a:srgbClr>
                </a:solidFill>
                <a:latin typeface="SVN-Integral CF" pitchFamily="34" charset="0"/>
                <a:ea typeface="SVN-Integral CF" pitchFamily="34" charset="-122"/>
                <a:cs typeface="SVN-Integral CF" pitchFamily="34" charset="-120"/>
              </a:rPr>
              <a:t>THỰC HÀNH NGÔN NGỮ TAY, VAI, ĐẦU</a:t>
            </a:r>
            <a:endParaRPr lang="en-US" sz="2138" dirty="0"/>
          </a:p>
        </p:txBody>
      </p:sp>
      <p:sp>
        <p:nvSpPr>
          <p:cNvPr id="22" name="Text 10"/>
          <p:cNvSpPr/>
          <p:nvPr/>
        </p:nvSpPr>
        <p:spPr>
          <a:xfrm>
            <a:off x="176213" y="1266825"/>
            <a:ext cx="280987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140" dirty="0">
                <a:solidFill>
                  <a:srgbClr val="000626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Làm sao để thực hành ngôn ngữ cơ thể  ? </a:t>
            </a:r>
            <a:endParaRPr lang="en-US" sz="1140" dirty="0"/>
          </a:p>
        </p:txBody>
      </p:sp>
      <p:sp>
        <p:nvSpPr>
          <p:cNvPr id="23" name="Text 11"/>
          <p:cNvSpPr/>
          <p:nvPr/>
        </p:nvSpPr>
        <p:spPr>
          <a:xfrm>
            <a:off x="123825" y="2286000"/>
            <a:ext cx="38242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7"/>
              </a:lnSpc>
              <a:buSzPct val="100000"/>
              <a:buChar char="•"/>
            </a:pPr>
            <a:r>
              <a:rPr lang="en-US" sz="998" dirty="0">
                <a:solidFill>
                  <a:srgbClr val="000000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123123</a:t>
            </a:r>
            <a:endParaRPr lang="en-US" sz="9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00050" y="-1909762"/>
            <a:ext cx="4862513" cy="8963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030"/>
              </a:lnSpc>
              <a:buNone/>
            </a:pPr>
            <a:r>
              <a:rPr lang="en-US" sz="58287" b="1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6</a:t>
            </a:r>
            <a:endParaRPr lang="en-US" sz="58287" dirty="0"/>
          </a:p>
        </p:txBody>
      </p:sp>
      <p:sp>
        <p:nvSpPr>
          <p:cNvPr id="3" name="Text 1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4" name="Text 2"/>
          <p:cNvSpPr/>
          <p:nvPr/>
        </p:nvSpPr>
        <p:spPr>
          <a:xfrm>
            <a:off x="395288" y="290513"/>
            <a:ext cx="2486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CFCFC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5" name="Shape 3"/>
          <p:cNvSpPr/>
          <p:nvPr/>
        </p:nvSpPr>
        <p:spPr>
          <a:xfrm>
            <a:off x="1638300" y="4595813"/>
            <a:ext cx="1233488" cy="304800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38300" y="4595813"/>
            <a:ext cx="304800" cy="30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00250" y="4648200"/>
            <a:ext cx="871538" cy="200025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2000250" y="4648200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000000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2000250" y="4752975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5F5F5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62463" y="1447800"/>
            <a:ext cx="281940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49"/>
              </a:lnSpc>
              <a:buNone/>
            </a:pPr>
            <a:r>
              <a:rPr lang="en-US" sz="6390" b="1" dirty="0">
                <a:solidFill>
                  <a:srgbClr val="CFCFC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ĐỊNH DẠNG </a:t>
            </a:r>
            <a:endParaRPr lang="en-US" sz="6390" dirty="0"/>
          </a:p>
        </p:txBody>
      </p:sp>
      <p:sp>
        <p:nvSpPr>
          <p:cNvPr id="13" name="Text 8"/>
          <p:cNvSpPr/>
          <p:nvPr/>
        </p:nvSpPr>
        <p:spPr>
          <a:xfrm>
            <a:off x="4462463" y="2428875"/>
            <a:ext cx="24717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22"/>
              </a:lnSpc>
              <a:buNone/>
            </a:pPr>
            <a:r>
              <a:rPr lang="en-US" sz="4193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talking head</a:t>
            </a:r>
            <a:endParaRPr lang="en-US" sz="41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0">
            <a:off x="-157162" y="-2938462"/>
            <a:ext cx="3629025" cy="1062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9440"/>
              </a:lnSpc>
              <a:buNone/>
            </a:pPr>
            <a:r>
              <a:rPr lang="en-US" sz="69078" b="1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1</a:t>
            </a:r>
            <a:endParaRPr lang="en-US" sz="69078" dirty="0"/>
          </a:p>
        </p:txBody>
      </p:sp>
      <p:sp>
        <p:nvSpPr>
          <p:cNvPr id="3" name="Text 1"/>
          <p:cNvSpPr/>
          <p:nvPr/>
        </p:nvSpPr>
        <p:spPr>
          <a:xfrm>
            <a:off x="6653213" y="4143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4" name="Text 2"/>
          <p:cNvSpPr/>
          <p:nvPr/>
        </p:nvSpPr>
        <p:spPr>
          <a:xfrm>
            <a:off x="404813" y="428625"/>
            <a:ext cx="228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2026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404813" y="4533900"/>
            <a:ext cx="1866305" cy="336649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4813" y="4535537"/>
            <a:ext cx="333375" cy="3333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2842" y="4533900"/>
            <a:ext cx="1438275" cy="336649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832842" y="45339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944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944" dirty="0"/>
          </a:p>
        </p:txBody>
      </p:sp>
      <p:sp>
        <p:nvSpPr>
          <p:cNvPr id="9" name="Text 6"/>
          <p:cNvSpPr/>
          <p:nvPr/>
        </p:nvSpPr>
        <p:spPr>
          <a:xfrm>
            <a:off x="832842" y="4708624"/>
            <a:ext cx="671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26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826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57625" y="1676400"/>
            <a:ext cx="4610744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381"/>
              </a:lnSpc>
              <a:buNone/>
            </a:pPr>
            <a:r>
              <a:rPr lang="en-US" sz="5548" b="1" dirty="0">
                <a:solidFill>
                  <a:srgbClr val="FFFFF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NÓI TRƯỚC ỐNG KÍNH</a:t>
            </a:r>
            <a:endParaRPr lang="en-US" sz="5548" dirty="0"/>
          </a:p>
        </p:txBody>
      </p:sp>
      <p:sp>
        <p:nvSpPr>
          <p:cNvPr id="13" name="Text 8"/>
          <p:cNvSpPr/>
          <p:nvPr/>
        </p:nvSpPr>
        <p:spPr>
          <a:xfrm>
            <a:off x="3891023" y="2370851"/>
            <a:ext cx="304323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053"/>
              </a:lnSpc>
              <a:buNone/>
            </a:pPr>
            <a:r>
              <a:rPr lang="en-US" sz="3524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logic và thực hành</a:t>
            </a:r>
            <a:endParaRPr lang="en-US" sz="3524" dirty="0"/>
          </a:p>
        </p:txBody>
      </p:sp>
      <p:sp>
        <p:nvSpPr>
          <p:cNvPr id="14" name="Text 9"/>
          <p:cNvSpPr/>
          <p:nvPr/>
        </p:nvSpPr>
        <p:spPr>
          <a:xfrm rot="0">
            <a:off x="7062788" y="4672013"/>
            <a:ext cx="17287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73" dirty="0">
                <a:solidFill>
                  <a:srgbClr val="CFCFCF">
                    <a:alpha val="99000"/>
                  </a:srgbClr>
                </a:solidFill>
                <a:latin typeface="SVN-Acta" pitchFamily="34" charset="0"/>
                <a:ea typeface="SVN-Acta" pitchFamily="34" charset="-122"/>
                <a:cs typeface="SVN-Acta" pitchFamily="34" charset="-120"/>
              </a:rPr>
              <a:t>LUYỆN TẬP CÁCH NÓI</a:t>
            </a:r>
            <a:endParaRPr lang="en-US" sz="1273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38500" y="3109913"/>
            <a:ext cx="80963" cy="3476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00050" y="-1909762"/>
            <a:ext cx="3062288" cy="8963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030"/>
              </a:lnSpc>
              <a:buNone/>
            </a:pPr>
            <a:r>
              <a:rPr lang="en-US" sz="58287" b="1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1</a:t>
            </a:r>
            <a:endParaRPr lang="en-US" sz="58287" dirty="0"/>
          </a:p>
        </p:txBody>
      </p:sp>
      <p:sp>
        <p:nvSpPr>
          <p:cNvPr id="3" name="Text 1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4" name="Text 2"/>
          <p:cNvSpPr/>
          <p:nvPr/>
        </p:nvSpPr>
        <p:spPr>
          <a:xfrm>
            <a:off x="395288" y="290513"/>
            <a:ext cx="2486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CFCFC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5" name="Shape 3"/>
          <p:cNvSpPr/>
          <p:nvPr/>
        </p:nvSpPr>
        <p:spPr>
          <a:xfrm>
            <a:off x="2338388" y="4629150"/>
            <a:ext cx="1233488" cy="304800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8388" y="4629150"/>
            <a:ext cx="304800" cy="30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00338" y="4681538"/>
            <a:ext cx="871538" cy="200025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2700338" y="4681538"/>
            <a:ext cx="871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570" dirty="0">
                <a:solidFill>
                  <a:srgbClr val="CFCFC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2700338" y="4786313"/>
            <a:ext cx="4048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499" dirty="0">
                <a:solidFill>
                  <a:srgbClr val="E5E9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499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0" y="1485900"/>
            <a:ext cx="3262313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349"/>
              </a:lnSpc>
              <a:buNone/>
            </a:pPr>
            <a:r>
              <a:rPr lang="en-US" sz="6390" b="1" dirty="0">
                <a:solidFill>
                  <a:srgbClr val="CFCFC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LÀM THẾ NÀO</a:t>
            </a:r>
            <a:endParaRPr lang="en-US" sz="6390" dirty="0"/>
          </a:p>
        </p:txBody>
      </p:sp>
      <p:sp>
        <p:nvSpPr>
          <p:cNvPr id="13" name="Text 8"/>
          <p:cNvSpPr/>
          <p:nvPr/>
        </p:nvSpPr>
        <p:spPr>
          <a:xfrm>
            <a:off x="4572000" y="2386013"/>
            <a:ext cx="28003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822"/>
              </a:lnSpc>
              <a:buNone/>
            </a:pPr>
            <a:r>
              <a:rPr lang="en-US" sz="4193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video hấp dẫn</a:t>
            </a:r>
            <a:endParaRPr lang="en-US" sz="419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4475" y="-2066925"/>
            <a:ext cx="4805363" cy="8963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030"/>
              </a:lnSpc>
              <a:buNone/>
            </a:pPr>
            <a:r>
              <a:rPr lang="en-US" sz="58287" b="1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3</a:t>
            </a:r>
            <a:endParaRPr lang="en-US" sz="58287" dirty="0"/>
          </a:p>
        </p:txBody>
      </p:sp>
      <p:sp>
        <p:nvSpPr>
          <p:cNvPr id="3" name="Text 1"/>
          <p:cNvSpPr/>
          <p:nvPr/>
        </p:nvSpPr>
        <p:spPr>
          <a:xfrm>
            <a:off x="6562725" y="300038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4" name="Text 2"/>
          <p:cNvSpPr/>
          <p:nvPr/>
        </p:nvSpPr>
        <p:spPr>
          <a:xfrm>
            <a:off x="395288" y="290513"/>
            <a:ext cx="24860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CFCFC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5" name="Shape 3"/>
          <p:cNvSpPr/>
          <p:nvPr/>
        </p:nvSpPr>
        <p:spPr>
          <a:xfrm>
            <a:off x="547688" y="4286250"/>
            <a:ext cx="2037755" cy="504825"/>
          </a:xfrm>
          <a:prstGeom prst="rect">
            <a:avLst/>
          </a:prstGeom>
          <a:noFill/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7688" y="4286250"/>
            <a:ext cx="504825" cy="5048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7167" y="4370338"/>
            <a:ext cx="1438275" cy="336649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1147167" y="4370338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944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944" dirty="0"/>
          </a:p>
        </p:txBody>
      </p:sp>
      <p:sp>
        <p:nvSpPr>
          <p:cNvPr id="9" name="Text 6"/>
          <p:cNvSpPr/>
          <p:nvPr/>
        </p:nvSpPr>
        <p:spPr>
          <a:xfrm>
            <a:off x="1147167" y="4545062"/>
            <a:ext cx="671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26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826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5288" y="1652588"/>
            <a:ext cx="4495800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222"/>
              </a:lnSpc>
              <a:buNone/>
            </a:pPr>
            <a:r>
              <a:rPr lang="en-US" sz="5410" b="1" dirty="0">
                <a:solidFill>
                  <a:srgbClr val="FFFFF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NÓI TRƯỚC ỐNG KÍNH</a:t>
            </a:r>
            <a:endParaRPr lang="en-US" sz="5410" dirty="0"/>
          </a:p>
        </p:txBody>
      </p:sp>
      <p:sp>
        <p:nvSpPr>
          <p:cNvPr id="13" name="Text 8"/>
          <p:cNvSpPr/>
          <p:nvPr/>
        </p:nvSpPr>
        <p:spPr>
          <a:xfrm>
            <a:off x="395288" y="2414588"/>
            <a:ext cx="265271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533"/>
              </a:lnSpc>
              <a:buNone/>
            </a:pPr>
            <a:r>
              <a:rPr lang="en-US" sz="3072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logic và thực hành</a:t>
            </a:r>
            <a:endParaRPr lang="en-US" sz="3072" dirty="0"/>
          </a:p>
        </p:txBody>
      </p:sp>
      <p:sp>
        <p:nvSpPr>
          <p:cNvPr id="14" name="Text 9"/>
          <p:cNvSpPr/>
          <p:nvPr/>
        </p:nvSpPr>
        <p:spPr>
          <a:xfrm>
            <a:off x="395288" y="466725"/>
            <a:ext cx="17287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73" dirty="0">
                <a:solidFill>
                  <a:srgbClr val="CFCFCF">
                    <a:alpha val="99000"/>
                  </a:srgbClr>
                </a:solidFill>
                <a:latin typeface="SVN-Acta" pitchFamily="34" charset="0"/>
                <a:ea typeface="SVN-Acta" pitchFamily="34" charset="-122"/>
                <a:cs typeface="SVN-Acta" pitchFamily="34" charset="-120"/>
              </a:rPr>
              <a:t>LUYỆN TẬP CÁCH NÓI</a:t>
            </a:r>
            <a:endParaRPr lang="en-US" sz="127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5288" y="338138"/>
            <a:ext cx="285750" cy="285750"/>
          </a:xfrm>
          <a:prstGeom prst="rect">
            <a:avLst/>
          </a:prstGeom>
          <a:noFill/>
          <a:ln w="4524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1488" y="357188"/>
            <a:ext cx="133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5"/>
              </a:lnSpc>
              <a:buNone/>
            </a:pPr>
            <a:r>
              <a:rPr lang="en-US" sz="1604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3</a:t>
            </a:r>
            <a:endParaRPr lang="en-US" sz="1604" dirty="0"/>
          </a:p>
        </p:txBody>
      </p:sp>
      <p:sp>
        <p:nvSpPr>
          <p:cNvPr id="4" name="Text 2"/>
          <p:cNvSpPr/>
          <p:nvPr/>
        </p:nvSpPr>
        <p:spPr>
          <a:xfrm>
            <a:off x="6567488" y="461963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5" name="Text 3"/>
          <p:cNvSpPr/>
          <p:nvPr/>
        </p:nvSpPr>
        <p:spPr>
          <a:xfrm>
            <a:off x="8443913" y="4738688"/>
            <a:ext cx="2619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CFCFC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6" name="Shape 4"/>
          <p:cNvSpPr/>
          <p:nvPr/>
        </p:nvSpPr>
        <p:spPr>
          <a:xfrm>
            <a:off x="471488" y="4572000"/>
            <a:ext cx="1866305" cy="336649"/>
          </a:xfrm>
          <a:prstGeom prst="rect">
            <a:avLst/>
          </a:prstGeom>
          <a:noFill/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1488" y="4573637"/>
            <a:ext cx="333375" cy="333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9517" y="4572000"/>
            <a:ext cx="1438275" cy="336649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899517" y="45720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944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944" dirty="0"/>
          </a:p>
        </p:txBody>
      </p:sp>
      <p:sp>
        <p:nvSpPr>
          <p:cNvPr id="10" name="Text 7"/>
          <p:cNvSpPr/>
          <p:nvPr/>
        </p:nvSpPr>
        <p:spPr>
          <a:xfrm>
            <a:off x="899517" y="4746724"/>
            <a:ext cx="671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26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826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3863" y="1857375"/>
            <a:ext cx="524827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263"/>
              </a:lnSpc>
              <a:buNone/>
            </a:pPr>
            <a:r>
              <a:rPr lang="en-US" sz="6316" b="1" dirty="0">
                <a:solidFill>
                  <a:srgbClr val="FFFFF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NÓI TRƯỚC ỐNG KÍNH</a:t>
            </a:r>
            <a:endParaRPr lang="en-US" sz="6316" dirty="0"/>
          </a:p>
        </p:txBody>
      </p:sp>
      <p:sp>
        <p:nvSpPr>
          <p:cNvPr id="14" name="Text 9"/>
          <p:cNvSpPr/>
          <p:nvPr/>
        </p:nvSpPr>
        <p:spPr>
          <a:xfrm>
            <a:off x="461869" y="2647848"/>
            <a:ext cx="3462338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613"/>
              </a:lnSpc>
              <a:buNone/>
            </a:pPr>
            <a:r>
              <a:rPr lang="en-US" sz="4011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logic và thực hành</a:t>
            </a:r>
            <a:endParaRPr lang="en-US" sz="4011" dirty="0"/>
          </a:p>
        </p:txBody>
      </p:sp>
      <p:sp>
        <p:nvSpPr>
          <p:cNvPr id="15" name="Text 10"/>
          <p:cNvSpPr/>
          <p:nvPr/>
        </p:nvSpPr>
        <p:spPr>
          <a:xfrm>
            <a:off x="800100" y="400050"/>
            <a:ext cx="17287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73" dirty="0">
                <a:solidFill>
                  <a:srgbClr val="CFCFCF">
                    <a:alpha val="99000"/>
                  </a:srgbClr>
                </a:solidFill>
                <a:latin typeface="SVN-Acta" pitchFamily="34" charset="0"/>
                <a:ea typeface="SVN-Acta" pitchFamily="34" charset="-122"/>
                <a:cs typeface="SVN-Acta" pitchFamily="34" charset="-120"/>
              </a:rPr>
              <a:t>LUYỆN TẬP CÁCH NÓI</a:t>
            </a:r>
            <a:endParaRPr lang="en-US" sz="1273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38500" y="3109913"/>
            <a:ext cx="80963" cy="347663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76140"/>
          <a:stretch/>
        </p:blipFill>
        <p:spPr>
          <a:xfrm>
            <a:off x="14288" y="852487"/>
            <a:ext cx="9117806" cy="4763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76140"/>
          <a:stretch/>
        </p:blipFill>
        <p:spPr>
          <a:xfrm>
            <a:off x="14288" y="4395787"/>
            <a:ext cx="9117806" cy="47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29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7488" y="461963"/>
            <a:ext cx="2138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782"/>
              </a:lnSpc>
              <a:buNone/>
            </a:pPr>
            <a:r>
              <a:rPr lang="en-US" sz="641" spc="64" kern="0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IMESS/ZALO : 0934688632</a:t>
            </a:r>
            <a:endParaRPr lang="en-US" sz="641" dirty="0"/>
          </a:p>
        </p:txBody>
      </p:sp>
      <p:sp>
        <p:nvSpPr>
          <p:cNvPr id="3" name="Text 1"/>
          <p:cNvSpPr/>
          <p:nvPr/>
        </p:nvSpPr>
        <p:spPr>
          <a:xfrm>
            <a:off x="404813" y="428625"/>
            <a:ext cx="2619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2"/>
              </a:lnSpc>
              <a:buNone/>
            </a:pPr>
            <a:r>
              <a:rPr lang="en-US" sz="641" b="1" spc="64" kern="0" dirty="0">
                <a:solidFill>
                  <a:srgbClr val="CFCFC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641" dirty="0"/>
          </a:p>
        </p:txBody>
      </p:sp>
      <p:sp>
        <p:nvSpPr>
          <p:cNvPr id="4" name="Shape 2"/>
          <p:cNvSpPr/>
          <p:nvPr/>
        </p:nvSpPr>
        <p:spPr>
          <a:xfrm>
            <a:off x="7062788" y="4610100"/>
            <a:ext cx="1866305" cy="336649"/>
          </a:xfrm>
          <a:prstGeom prst="rect">
            <a:avLst/>
          </a:prstGeom>
          <a:noFill/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62788" y="4611737"/>
            <a:ext cx="333375" cy="3333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0817" y="4610100"/>
            <a:ext cx="1438275" cy="336649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7490817" y="4610100"/>
            <a:ext cx="143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6"/>
              </a:lnSpc>
              <a:buNone/>
            </a:pPr>
            <a:r>
              <a:rPr lang="en-US" sz="944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Mentor : Nguyễn Đức Việt</a:t>
            </a:r>
            <a:endParaRPr lang="en-US" sz="944" dirty="0"/>
          </a:p>
        </p:txBody>
      </p:sp>
      <p:sp>
        <p:nvSpPr>
          <p:cNvPr id="8" name="Text 5"/>
          <p:cNvSpPr/>
          <p:nvPr/>
        </p:nvSpPr>
        <p:spPr>
          <a:xfrm>
            <a:off x="7490817" y="4784824"/>
            <a:ext cx="671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26" dirty="0">
                <a:solidFill>
                  <a:srgbClr val="FFFFFF">
                    <a:alpha val="99000"/>
                  </a:srgbClr>
                </a:solidFill>
                <a:latin typeface="SVN-Walsheim Pro" pitchFamily="34" charset="0"/>
                <a:ea typeface="SVN-Walsheim Pro" pitchFamily="34" charset="-122"/>
                <a:cs typeface="SVN-Walsheim Pro" pitchFamily="34" charset="-120"/>
              </a:rPr>
              <a:t>0934.688.632</a:t>
            </a:r>
            <a:endParaRPr lang="en-US" sz="82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71938" y="90488"/>
            <a:ext cx="476250" cy="47625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15000"/>
          <a:stretch/>
        </p:blipFill>
        <p:spPr>
          <a:xfrm>
            <a:off x="3238500" y="-71437"/>
            <a:ext cx="476250" cy="4048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92112" y="1676400"/>
            <a:ext cx="535725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414"/>
              </a:lnSpc>
              <a:buNone/>
            </a:pPr>
            <a:r>
              <a:rPr lang="en-US" sz="6447" b="1" dirty="0">
                <a:solidFill>
                  <a:srgbClr val="FFFFFF">
                    <a:alpha val="99000"/>
                  </a:srgbClr>
                </a:solidFill>
                <a:latin typeface="SVN-Anguita Sans" pitchFamily="34" charset="0"/>
                <a:ea typeface="SVN-Anguita Sans" pitchFamily="34" charset="-122"/>
                <a:cs typeface="SVN-Anguita Sans" pitchFamily="34" charset="-120"/>
              </a:rPr>
              <a:t>NÓI TRƯỚC ỐNG KÍNH</a:t>
            </a:r>
            <a:endParaRPr lang="en-US" sz="6447" dirty="0"/>
          </a:p>
        </p:txBody>
      </p:sp>
      <p:sp>
        <p:nvSpPr>
          <p:cNvPr id="12" name="Text 7"/>
          <p:cNvSpPr/>
          <p:nvPr/>
        </p:nvSpPr>
        <p:spPr>
          <a:xfrm>
            <a:off x="3530919" y="2483286"/>
            <a:ext cx="35337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709"/>
              </a:lnSpc>
              <a:buNone/>
            </a:pPr>
            <a:r>
              <a:rPr lang="en-US" sz="4095" i="1" dirty="0">
                <a:solidFill>
                  <a:srgbClr val="CFCFCF">
                    <a:alpha val="99000"/>
                  </a:srgbClr>
                </a:solidFill>
                <a:latin typeface="SVN-Freight Display" pitchFamily="34" charset="0"/>
                <a:ea typeface="SVN-Freight Display" pitchFamily="34" charset="-122"/>
                <a:cs typeface="SVN-Freight Display" pitchFamily="34" charset="-120"/>
              </a:rPr>
              <a:t>logic và thực hành</a:t>
            </a:r>
            <a:endParaRPr lang="en-US" sz="4095" dirty="0"/>
          </a:p>
        </p:txBody>
      </p:sp>
      <p:sp>
        <p:nvSpPr>
          <p:cNvPr id="13" name="Shape 8"/>
          <p:cNvSpPr/>
          <p:nvPr/>
        </p:nvSpPr>
        <p:spPr>
          <a:xfrm rot="-5400000">
            <a:off x="-721519" y="3164681"/>
            <a:ext cx="2762250" cy="795338"/>
          </a:xfrm>
          <a:prstGeom prst="rect">
            <a:avLst/>
          </a:prstGeom>
          <a:noFill/>
          <a:ln/>
        </p:spPr>
      </p:sp>
      <p:sp>
        <p:nvSpPr>
          <p:cNvPr id="14" name="Shape 9"/>
          <p:cNvSpPr/>
          <p:nvPr/>
        </p:nvSpPr>
        <p:spPr>
          <a:xfrm rot="-5400000">
            <a:off x="223838" y="4110038"/>
            <a:ext cx="871538" cy="795338"/>
          </a:xfrm>
          <a:prstGeom prst="rect">
            <a:avLst/>
          </a:prstGeom>
          <a:noFill/>
          <a:ln w="4524">
            <a:solidFill>
              <a:srgbClr val="33333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 rot="-5400000">
            <a:off x="271463" y="4157663"/>
            <a:ext cx="776288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244"/>
              </a:lnSpc>
              <a:buNone/>
            </a:pPr>
            <a:r>
              <a:rPr lang="en-US" sz="4560" b="1" dirty="0">
                <a:solidFill>
                  <a:srgbClr val="CFCFCF">
                    <a:alpha val="99000"/>
                  </a:srgbClr>
                </a:solidFill>
                <a:latin typeface="SVN-Aeonik" pitchFamily="34" charset="0"/>
                <a:ea typeface="SVN-Aeonik" pitchFamily="34" charset="-122"/>
                <a:cs typeface="SVN-Aeonik" pitchFamily="34" charset="-120"/>
              </a:rPr>
              <a:t>03</a:t>
            </a:r>
            <a:endParaRPr lang="en-US" sz="4560" dirty="0"/>
          </a:p>
        </p:txBody>
      </p:sp>
      <p:sp>
        <p:nvSpPr>
          <p:cNvPr id="16" name="Text 11"/>
          <p:cNvSpPr/>
          <p:nvPr/>
        </p:nvSpPr>
        <p:spPr>
          <a:xfrm rot="-5400000">
            <a:off x="-204787" y="2947988"/>
            <a:ext cx="17287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73" dirty="0">
                <a:solidFill>
                  <a:srgbClr val="CFCFCF">
                    <a:alpha val="99000"/>
                  </a:srgbClr>
                </a:solidFill>
                <a:latin typeface="SVN-Acta" pitchFamily="34" charset="0"/>
                <a:ea typeface="SVN-Acta" pitchFamily="34" charset="-122"/>
                <a:cs typeface="SVN-Acta" pitchFamily="34" charset="-120"/>
              </a:rPr>
              <a:t>LUYỆN TẬP CÁCH NÓI</a:t>
            </a:r>
            <a:endParaRPr lang="en-US" sz="1273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38500" y="3109913"/>
            <a:ext cx="80963" cy="347663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-18099"/>
          <a:stretch/>
        </p:blipFill>
        <p:spPr>
          <a:xfrm>
            <a:off x="1462086" y="834566"/>
            <a:ext cx="7669969" cy="3108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65449"/>
          <a:stretch/>
        </p:blipFill>
        <p:spPr>
          <a:xfrm>
            <a:off x="1463594" y="4395787"/>
            <a:ext cx="7668499" cy="63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2026-08-17T04:48:32Z</dcterms:created>
  <dcterms:modified xsi:type="dcterms:W3CDTF">2026-08-17T04:48:32Z</dcterms:modified>
</cp:coreProperties>
</file>